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0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155680" cy="58064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" y="599236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5F7FA"/>
                </a:solidFill>
                <a:latin typeface="Aptos"/>
              </a:rPr>
              <a:t>Multimodal Q&amp;A Pro — Full Hybrid Agent + Deployment</a:t>
            </a:r>
          </a:p>
          <a:p>
            <a:pPr>
              <a:spcBef>
                <a:spcPts val="400"/>
              </a:spcBef>
              <a:defRPr sz="1300">
                <a:solidFill>
                  <a:srgbClr val="4DD8E8"/>
                </a:solidFill>
                <a:latin typeface="Aptos"/>
              </a:defRPr>
            </a:pPr>
            <a:r>
              <a:rPr dirty="0"/>
              <a:t>An Agentic AI Assistant that intelligently reasons across PDFs, Images, and the Web using </a:t>
            </a:r>
            <a:r>
              <a:rPr dirty="0" err="1"/>
              <a:t>LangGraph</a:t>
            </a:r>
            <a:r>
              <a:rPr dirty="0"/>
              <a:t> and Retrieval-Augmented Generation (RAG).</a:t>
            </a:r>
          </a:p>
          <a:p>
            <a:pPr>
              <a:spcBef>
                <a:spcPts val="400"/>
              </a:spcBef>
              <a:defRPr sz="1100">
                <a:solidFill>
                  <a:srgbClr val="AAB5C4"/>
                </a:solidFill>
                <a:latin typeface="Aptos"/>
              </a:defRPr>
            </a:pPr>
            <a:r>
              <a:rPr dirty="0"/>
              <a:t>PS5 | Difficulty: Hard | Round 1 Ideation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14804"/>
            <a:ext cx="2103120" cy="73152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226741"/>
            <a:ext cx="1051560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5F7FA"/>
                </a:solidFill>
                <a:latin typeface="Aptos"/>
              </a:defRPr>
            </a:pPr>
            <a:r>
              <a:rPr dirty="0"/>
              <a:t>Team Name: SHAKUNI KE SHER</a:t>
            </a:r>
          </a:p>
          <a:p>
            <a:pPr>
              <a:spcAft>
                <a:spcPts val="10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rPr dirty="0"/>
              <a:t>Team Members:</a:t>
            </a:r>
          </a:p>
          <a:p>
            <a:pPr>
              <a:spcAft>
                <a:spcPts val="1000"/>
              </a:spcAft>
              <a:defRPr sz="1800" b="0">
                <a:solidFill>
                  <a:srgbClr val="AAB5C4"/>
                </a:solidFill>
                <a:latin typeface="Aptos"/>
              </a:defRPr>
            </a:pPr>
            <a:r>
              <a:rPr dirty="0"/>
              <a:t>Bhavya Patel — 202503012</a:t>
            </a:r>
          </a:p>
          <a:p>
            <a:pPr>
              <a:spcAft>
                <a:spcPts val="1000"/>
              </a:spcAft>
              <a:defRPr sz="1800" b="0">
                <a:solidFill>
                  <a:srgbClr val="AAB5C4"/>
                </a:solidFill>
                <a:latin typeface="Aptos"/>
              </a:defRPr>
            </a:pPr>
            <a:r>
              <a:rPr dirty="0"/>
              <a:t>Lakshya Dadhich — 202501059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11155680" cy="54406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Students, researchers, and professionals often need to gather information from multiple sources such as documents, images, and the internet.</a:t>
            </a:r>
          </a:p>
          <a:p>
            <a:pPr>
              <a:spcAft>
                <a:spcPts val="6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Existing AI assistants typically rely on only one source at a time, leading to fragmented and incomplete answers.</a:t>
            </a:r>
          </a:p>
          <a:p>
            <a:pPr>
              <a:spcAft>
                <a:spcPts val="6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There is a need for a unified AI assistant capable of intelligently selecting the appropriate knowledge source and providing accurate, context-aware responses with transparent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Proposed Solution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4800" y="894735"/>
            <a:ext cx="6781800" cy="5597505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F7FA"/>
                </a:solidFill>
                <a:latin typeface="Aptos"/>
              </a:rPr>
              <a:t>Solution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943600" cy="109728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rPr dirty="0"/>
              <a:t>A single agentic Q&amp;A platform that routes each query to documents, images, or the web — then merges the evidence into one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894735"/>
            <a:ext cx="4389120" cy="5597505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14300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F7FA"/>
                </a:solidFill>
                <a:latin typeface="Aptos"/>
              </a:rPr>
              <a:t>Key Additions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417320"/>
            <a:ext cx="3886200" cy="44805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Wikipedia tool as a stretch source</a:t>
            </a:r>
          </a:p>
          <a:p>
            <a:pPr>
              <a:spcAft>
                <a:spcPts val="6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Error-handling UX for failed tools</a:t>
            </a:r>
          </a:p>
          <a:p>
            <a:pPr>
              <a:spcAft>
                <a:spcPts val="6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Polished multi-tab Gradio layout</a:t>
            </a:r>
          </a:p>
          <a:p>
            <a:pPr>
              <a:spcAft>
                <a:spcPts val="6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Judges can inspect live reasoning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109728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User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743200"/>
            <a:ext cx="137160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LangGraph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43200"/>
            <a:ext cx="109728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743200"/>
            <a:ext cx="146304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Answer + Trace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3081528"/>
            <a:ext cx="365760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03320" y="3081528"/>
            <a:ext cx="868680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3081528"/>
            <a:ext cx="1645920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3703320"/>
            <a:ext cx="10515600" cy="2761488"/>
          </a:xfrm>
          <a:prstGeom prst="roundRect">
            <a:avLst>
              <a:gd name="adj" fmla="val 4000"/>
            </a:avLst>
          </a:prstGeom>
          <a:solidFill>
            <a:srgbClr val="0F1830"/>
          </a:solidFill>
          <a:ln w="1270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81304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DD8E8"/>
                </a:solidFill>
                <a:latin typeface="Aptos"/>
              </a:rPr>
              <a:t>Example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14800"/>
            <a:ext cx="10241280" cy="20574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rPr sz="1400" b="1" dirty="0">
                <a:solidFill>
                  <a:srgbClr val="F5F7FA"/>
                </a:solidFill>
              </a:rPr>
              <a:t>User:</a:t>
            </a:r>
          </a:p>
          <a:p>
            <a:pPr>
              <a:spcAft>
                <a:spcPts val="300"/>
              </a:spcAft>
              <a:defRPr sz="1400" i="1">
                <a:solidFill>
                  <a:srgbClr val="AAB5C4"/>
                </a:solidFill>
                <a:latin typeface="Aptos"/>
              </a:defRPr>
            </a:pPr>
            <a:r>
              <a:rPr dirty="0"/>
              <a:t>“Compare my resume with current AI Engineer requirements.”</a:t>
            </a:r>
          </a:p>
          <a:p>
            <a:pPr>
              <a:spcAft>
                <a:spcPts val="300"/>
              </a:spcAft>
              <a:defRPr sz="1400">
                <a:solidFill>
                  <a:srgbClr val="00B8D4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3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rPr dirty="0"/>
              <a:t>Agent decides</a:t>
            </a:r>
          </a:p>
          <a:p>
            <a:pPr>
              <a:spcAft>
                <a:spcPts val="300"/>
              </a:spcAft>
              <a:defRPr sz="1400">
                <a:solidFill>
                  <a:srgbClr val="00B8D4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3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rPr dirty="0"/>
              <a:t>Resume → PDF Tool</a:t>
            </a:r>
          </a:p>
          <a:p>
            <a:pPr>
              <a:spcAft>
                <a:spcPts val="3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rPr dirty="0"/>
              <a:t>Latest Skills → Web Search</a:t>
            </a:r>
          </a:p>
          <a:p>
            <a:pPr>
              <a:spcAft>
                <a:spcPts val="300"/>
              </a:spcAft>
              <a:defRPr sz="1400">
                <a:solidFill>
                  <a:srgbClr val="00B8D4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defRPr sz="1400" b="1">
                <a:solidFill>
                  <a:srgbClr val="F5F7FA"/>
                </a:solidFill>
                <a:latin typeface="Aptos"/>
              </a:defRPr>
            </a:pPr>
            <a:r>
              <a:rPr dirty="0"/>
              <a:t>Combined Response with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Methodology /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11155680" cy="7600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1207007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12471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7FA"/>
                </a:solidFill>
              </a:defRPr>
            </a:pPr>
            <a:r>
              <a:t>Ingestion Layer — PDF parsing, chunking, embeddings, ChromaDB; image upload handled by Groq Vision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1560"/>
            <a:ext cx="11155680" cy="7600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2077007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9471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7FA"/>
                </a:solidFill>
              </a:defRPr>
            </a:pPr>
            <a:r>
              <a:t>Agent Layer — Single create_react_agent with recursion_limit=12 and three registered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91560"/>
            <a:ext cx="11155680" cy="7600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947007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86471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7FA"/>
                </a:solidFill>
              </a:defRPr>
            </a:pPr>
            <a:r>
              <a:t>Observability Layer — Capture agent.stream() and render a structured reasoning trace in Gradio.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61560"/>
            <a:ext cx="11155680" cy="7600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" y="3817007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373471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7FA"/>
                </a:solidFill>
              </a:defRPr>
            </a:pPr>
            <a:r>
              <a:t>Reliability Layer — safe_call wrappers, timeouts, graceful fallbacks, and no console-only failures.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31560"/>
            <a:ext cx="11155680" cy="7600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4687007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60471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7FA"/>
                </a:solidFill>
              </a:defRPr>
            </a:pPr>
            <a:r>
              <a:t>Deployment Layer — Multi-tab Gradio Blocks app deployed on HF Spaces with Secrets for API keys.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71560"/>
            <a:ext cx="11155680" cy="117000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554712"/>
            <a:ext cx="10790400" cy="1073152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4DD8E8"/>
                </a:solidFill>
                <a:latin typeface="Aptos"/>
              </a:defRPr>
            </a:pPr>
            <a:r>
              <a:t>Key Technologies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  <a:defRPr sz="1200">
                <a:solidFill>
                  <a:srgbClr val="F5F7FA"/>
                </a:solidFill>
                <a:latin typeface="Aptos"/>
              </a:defRPr>
            </a:pPr>
            <a:r>
              <a:t>LangGraph for agent orchestration and decision-making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  <a:defRPr sz="1200">
                <a:solidFill>
                  <a:srgbClr val="F5F7FA"/>
                </a:solidFill>
                <a:latin typeface="Aptos"/>
              </a:defRPr>
            </a:pPr>
            <a:r>
              <a:t>ChromaDB for semantic document retrieval</a:t>
            </a:r>
          </a:p>
          <a:p>
            <a:pPr marL="171450" indent="-171450">
              <a:spcAft>
                <a:spcPts val="100"/>
              </a:spcAft>
              <a:buFont typeface="Arial"/>
              <a:buChar char="•"/>
              <a:defRPr sz="1200">
                <a:solidFill>
                  <a:srgbClr val="F5F7FA"/>
                </a:solidFill>
                <a:latin typeface="Aptos"/>
              </a:defRPr>
            </a:pPr>
            <a:r>
              <a:t>Groq LLM for fast response generation</a:t>
            </a:r>
          </a:p>
          <a:p>
            <a:pPr marL="171450" indent="-171450">
              <a:buFont typeface="Arial"/>
              <a:buChar char="•"/>
              <a:defRPr sz="1200">
                <a:solidFill>
                  <a:srgbClr val="F5F7FA"/>
                </a:solidFill>
                <a:latin typeface="Aptos"/>
              </a:defRPr>
            </a:pPr>
            <a:r>
              <a:t>HuggingFace Embeddings for vector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System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51560"/>
            <a:ext cx="11338560" cy="54406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1508760" cy="9144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User Input</a:t>
            </a:r>
            <a:br/>
            <a:r>
              <a:t>Text / Image /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377440"/>
            <a:ext cx="1508760" cy="9144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Gradio Tabs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377440"/>
            <a:ext cx="1508760" cy="9144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create_react_agent</a:t>
            </a:r>
            <a:br/>
            <a:r>
              <a:t>LangGraph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377440"/>
            <a:ext cx="1508760" cy="9144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Tools</a:t>
            </a:r>
            <a:br/>
            <a:r>
              <a:t>search_documents</a:t>
            </a:r>
            <a:br/>
            <a:r>
              <a:t>search_web</a:t>
            </a:r>
            <a:br/>
            <a:r>
              <a:t>describe_image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377440"/>
            <a:ext cx="1920240" cy="914400"/>
          </a:xfrm>
          <a:prstGeom prst="roundRect">
            <a:avLst/>
          </a:prstGeom>
          <a:solidFill>
            <a:srgbClr val="141C2E"/>
          </a:solidFill>
          <a:ln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Synthesized Answer</a:t>
            </a:r>
            <a:br/>
            <a:r>
              <a:t>+ Reasoning Trace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834640"/>
            <a:ext cx="411480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51960" y="2834640"/>
            <a:ext cx="411480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72200" y="2834640"/>
            <a:ext cx="457200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2834640"/>
            <a:ext cx="411480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3931920"/>
            <a:ext cx="999744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600" i="1">
                <a:solidFill>
                  <a:srgbClr val="AAB5C4"/>
                </a:solidFill>
                <a:latin typeface="Aptos"/>
              </a:defRPr>
            </a:pPr>
            <a:r>
              <a:t>The agent dynamically selects the appropriate tool based on user intent and combines outputs from multiple modalities before generating the final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Example User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i="1">
                <a:solidFill>
                  <a:srgbClr val="AAB5C4"/>
                </a:solidFill>
                <a:latin typeface="Aptos"/>
              </a:rPr>
              <a:t>How the agent routes each query to the right tool (or combination of tools).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5568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C1220"/>
                          </a:solidFill>
                          <a:latin typeface="Aptos"/>
                        </a:rPr>
                        <a:t>User Query</a:t>
                      </a:r>
                    </a:p>
                  </a:txBody>
                  <a:tcPr marL="182880" anchor="ctr">
                    <a:solidFill>
                      <a:srgbClr val="00B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C1220"/>
                          </a:solidFill>
                          <a:latin typeface="Aptos"/>
                        </a:rPr>
                        <a:t>Tool Used</a:t>
                      </a:r>
                    </a:p>
                  </a:txBody>
                  <a:tcPr anchor="ctr">
                    <a:solidFill>
                      <a:srgbClr val="00B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F5F7FA"/>
                          </a:solidFill>
                          <a:latin typeface="Aptos"/>
                        </a:rPr>
                        <a:t>Summarize my uploaded notes</a:t>
                      </a:r>
                    </a:p>
                  </a:txBody>
                  <a:tcPr marL="182880" anchor="ctr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4DD8E8"/>
                          </a:solidFill>
                          <a:latin typeface="Aptos"/>
                        </a:rPr>
                        <a:t>PDF</a:t>
                      </a:r>
                    </a:p>
                  </a:txBody>
                  <a:tcPr anchor="ctr"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F5F7FA"/>
                          </a:solidFill>
                          <a:latin typeface="Aptos"/>
                        </a:rPr>
                        <a:t>Explain this circuit diagram</a:t>
                      </a:r>
                    </a:p>
                  </a:txBody>
                  <a:tcPr marL="182880" anchor="ctr"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4DD8E8"/>
                          </a:solidFill>
                          <a:latin typeface="Aptos"/>
                        </a:rPr>
                        <a:t>Vision</a:t>
                      </a:r>
                    </a:p>
                  </a:txBody>
                  <a:tcPr anchor="ctr">
                    <a:solidFill>
                      <a:srgbClr val="0F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F5F7FA"/>
                          </a:solidFill>
                          <a:latin typeface="Aptos"/>
                        </a:rPr>
                        <a:t>Latest AI internship openings</a:t>
                      </a:r>
                    </a:p>
                  </a:txBody>
                  <a:tcPr marL="182880" anchor="ctr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4DD8E8"/>
                          </a:solidFill>
                          <a:latin typeface="Aptos"/>
                        </a:rPr>
                        <a:t>Web</a:t>
                      </a:r>
                    </a:p>
                  </a:txBody>
                  <a:tcPr anchor="ctr"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F5F7FA"/>
                          </a:solidFill>
                          <a:latin typeface="Aptos"/>
                        </a:rPr>
                        <a:t>Compare my resume with latest AI job requirements</a:t>
                      </a:r>
                    </a:p>
                  </a:txBody>
                  <a:tcPr marL="182880" anchor="ctr"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4DD8E8"/>
                          </a:solidFill>
                          <a:latin typeface="Aptos"/>
                        </a:rPr>
                        <a:t>PDF + Web</a:t>
                      </a:r>
                    </a:p>
                  </a:txBody>
                  <a:tcPr anchor="ctr">
                    <a:solidFill>
                      <a:srgbClr val="0F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F5F7FA"/>
                          </a:solidFill>
                          <a:latin typeface="Aptos"/>
                        </a:rPr>
                        <a:t>Explain this image using my uploaded notes</a:t>
                      </a:r>
                    </a:p>
                  </a:txBody>
                  <a:tcPr marL="182880" anchor="ctr"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4DD8E8"/>
                          </a:solidFill>
                          <a:latin typeface="Aptos"/>
                        </a:rPr>
                        <a:t>Vision + PDF</a:t>
                      </a:r>
                    </a:p>
                  </a:txBody>
                  <a:tcPr anchor="ctr">
                    <a:solidFill>
                      <a:srgbClr val="14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Why Our Solution?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11155680" cy="54406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4"/>
          <p:cNvSpPr/>
          <p:nvPr/>
        </p:nvSpPr>
        <p:spPr>
          <a:xfrm>
            <a:off x="822960" y="1675628"/>
            <a:ext cx="480000" cy="480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1220"/>
                </a:solidFill>
              </a:defRPr>
            </a:pPr>
            <a: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08760" y="1641308"/>
            <a:ext cx="9784080" cy="54864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Aptos"/>
              </a:defRPr>
            </a:pPr>
            <a:r>
              <a:t>Automatic tool selection using an AI Agent</a:t>
            </a:r>
          </a:p>
        </p:txBody>
      </p:sp>
      <p:sp>
        <p:nvSpPr>
          <p:cNvPr id="6" name="Oval 6"/>
          <p:cNvSpPr/>
          <p:nvPr/>
        </p:nvSpPr>
        <p:spPr>
          <a:xfrm>
            <a:off x="822960" y="2603764"/>
            <a:ext cx="480000" cy="480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1220"/>
                </a:solidFill>
              </a:defRPr>
            </a:pPr>
            <a: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2569444"/>
            <a:ext cx="9784080" cy="54864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Aptos"/>
              </a:defRPr>
            </a:pPr>
            <a:r>
              <a:t>Multi-modal reasoning across PDFs, Images, and Web</a:t>
            </a:r>
          </a:p>
        </p:txBody>
      </p:sp>
      <p:sp>
        <p:nvSpPr>
          <p:cNvPr id="8" name="Oval 8"/>
          <p:cNvSpPr/>
          <p:nvPr/>
        </p:nvSpPr>
        <p:spPr>
          <a:xfrm>
            <a:off x="822960" y="3531900"/>
            <a:ext cx="480000" cy="480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1220"/>
                </a:solidFill>
              </a:defRPr>
            </a:pPr>
            <a: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8760" y="3497580"/>
            <a:ext cx="9784080" cy="54864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Aptos"/>
              </a:defRPr>
            </a:pPr>
            <a:r>
              <a:t>Retrieval-Augmented Generation (RAG) for factual responses</a:t>
            </a:r>
          </a:p>
        </p:txBody>
      </p:sp>
      <p:sp>
        <p:nvSpPr>
          <p:cNvPr id="10" name="Oval 10"/>
          <p:cNvSpPr/>
          <p:nvPr/>
        </p:nvSpPr>
        <p:spPr>
          <a:xfrm>
            <a:off x="822960" y="4460036"/>
            <a:ext cx="480000" cy="480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1220"/>
                </a:solidFill>
              </a:defRPr>
            </a:pPr>
            <a: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8760" y="4425716"/>
            <a:ext cx="9784080" cy="54864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Aptos"/>
              </a:defRPr>
            </a:pPr>
            <a:r>
              <a:t>Source-aware and transparent answers</a:t>
            </a:r>
          </a:p>
        </p:txBody>
      </p:sp>
      <p:sp>
        <p:nvSpPr>
          <p:cNvPr id="12" name="Oval 12"/>
          <p:cNvSpPr/>
          <p:nvPr/>
        </p:nvSpPr>
        <p:spPr>
          <a:xfrm>
            <a:off x="822960" y="5388172"/>
            <a:ext cx="480000" cy="480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1220"/>
                </a:solidFill>
              </a:defRPr>
            </a:pPr>
            <a: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8760" y="5353852"/>
            <a:ext cx="9784080" cy="54864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/>
          <a:p>
            <a:pPr>
              <a:defRPr sz="1800">
                <a:solidFill>
                  <a:srgbClr val="F5F7FA"/>
                </a:solidFill>
                <a:latin typeface="Aptos"/>
              </a:defRPr>
            </a:pPr>
            <a:r>
              <a:t>Modular architecture for future scalability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Orchestration: LangGraph,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97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261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7FA"/>
                </a:solidFill>
              </a:defRPr>
            </a:pPr>
            <a:r>
              <a:t>Vector Store: ChromaDB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04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Vision: Groq Vision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404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7FA"/>
                </a:solidFill>
              </a:defRPr>
            </a:pPr>
            <a:r>
              <a:t>Web Search: DuckDuckGo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83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47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7FA"/>
                </a:solidFill>
              </a:defRPr>
            </a:pPr>
            <a:r>
              <a:t>Stretch: WikipediaQueryRun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83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47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7FA"/>
                </a:solidFill>
              </a:defRPr>
            </a:pPr>
            <a:r>
              <a:t>UI: Gradio Blocks, Accordion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26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690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Deployment: Hugging Face Spaces, HF Secrets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526280"/>
            <a:ext cx="5303520" cy="91440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469087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5F7FA"/>
                </a:solidFill>
              </a:defRPr>
            </a:pPr>
            <a:r>
              <a:t>Support: LangChain tools, PyPDF/pdfplumber,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623560"/>
            <a:ext cx="10973280" cy="914400"/>
          </a:xfrm>
          <a:prstGeom prst="roundRect">
            <a:avLst/>
          </a:prstGeom>
          <a:solidFill>
            <a:srgbClr val="0F1830"/>
          </a:solidFill>
          <a:ln w="1270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428480" cy="9144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/>
          <a:p>
            <a:pPr algn="ctr">
              <a:defRPr sz="1400" i="1">
                <a:solidFill>
                  <a:srgbClr val="F5F7FA"/>
                </a:solidFill>
                <a:latin typeface="Aptos"/>
              </a:defRPr>
            </a:pPr>
            <a:r>
              <a:rPr sz="1400" b="1" i="0">
                <a:solidFill>
                  <a:srgbClr val="4DD8E8"/>
                </a:solidFill>
              </a:rPr>
              <a:t>Why LangGraph? </a:t>
            </a:r>
            <a:r>
              <a:t>LangGraph enables stateful agent workflows, intelligent tool orchestration, and transparent execution tracing, making it ideal for complex multi-step reasoning.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F5F7FA"/>
                </a:solidFill>
                <a:latin typeface="Aptos"/>
              </a:rPr>
              <a:t>Feasibility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6583680" cy="54406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0" y="1051560"/>
            <a:ext cx="4343400" cy="54406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12344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F5F7FA"/>
                </a:solidFill>
                <a:latin typeface="Aptos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943600" cy="44805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Round 2 is feasible because the architecture is modular and each layer — ingestion, agent, observability, reliability, and deployment — can be built and tested independently.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Key risks — wrong tool selection, hallucinated synthesis, and deployment or secret-management failure — are mitigated through explicit tool descriptions, evidence-only answering with a visible trace, and tested HF Secrets configuration.</a:t>
            </a:r>
          </a:p>
          <a:p>
            <a:pPr>
              <a:defRPr sz="1700">
                <a:solidFill>
                  <a:srgbClr val="F5F7FA"/>
                </a:solidFill>
                <a:latin typeface="Aptos"/>
              </a:defRPr>
            </a:pPr>
            <a:r>
              <a:t>Our modular architecture enables independent development and testing of each component, reducing integration complexity while supporting future scalability.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23444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F5F7FA"/>
                </a:solidFill>
                <a:latin typeface="Aptos"/>
              </a:rPr>
              <a:t>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737360"/>
            <a:ext cx="3886200" cy="44805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marL="171450" indent="-171450">
              <a:spcAft>
                <a:spcPts val="500"/>
              </a:spcAft>
              <a:buFont typeface="Arial"/>
              <a:buChar char="•"/>
              <a:defRPr sz="1700">
                <a:solidFill>
                  <a:srgbClr val="F5F7FA"/>
                </a:solidFill>
                <a:latin typeface="Aptos"/>
              </a:defRPr>
            </a:pPr>
            <a:r>
              <a:t>Voice-based interaction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  <a:defRPr sz="1700">
                <a:solidFill>
                  <a:srgbClr val="F5F7FA"/>
                </a:solidFill>
                <a:latin typeface="Aptos"/>
              </a:defRPr>
            </a:pPr>
            <a:r>
              <a:t>Multi-document reasoning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  <a:defRPr sz="1700">
                <a:solidFill>
                  <a:srgbClr val="F5F7FA"/>
                </a:solidFill>
                <a:latin typeface="Aptos"/>
              </a:defRPr>
            </a:pPr>
            <a:r>
              <a:t>OCR support for scanned documents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  <a:defRPr sz="1700">
                <a:solidFill>
                  <a:srgbClr val="F5F7FA"/>
                </a:solidFill>
                <a:latin typeface="Aptos"/>
              </a:defRPr>
            </a:pPr>
            <a:r>
              <a:t>Enterprise knowledge base integration</a:t>
            </a:r>
          </a:p>
          <a:p>
            <a:pPr marL="171450" indent="-171450">
              <a:buFont typeface="Arial"/>
              <a:buChar char="•"/>
              <a:defRPr sz="1700">
                <a:solidFill>
                  <a:srgbClr val="F5F7FA"/>
                </a:solidFill>
                <a:latin typeface="Aptos"/>
              </a:defRPr>
            </a:pPr>
            <a:r>
              <a:t>Local LLM deployment for privacy-sensitive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155680" cy="58064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51660"/>
            <a:ext cx="999744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4000" b="1">
                <a:solidFill>
                  <a:srgbClr val="F5F7FA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11780"/>
            <a:ext cx="999744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800">
                <a:solidFill>
                  <a:srgbClr val="4DD8E8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17620"/>
            <a:ext cx="999744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9100"/>
            <a:ext cx="999744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400"/>
              </a:spcAft>
              <a:defRPr sz="1700">
                <a:solidFill>
                  <a:srgbClr val="AAB5C4"/>
                </a:solidFill>
                <a:latin typeface="Aptos"/>
              </a:defRPr>
            </a:pPr>
            <a:r>
              <a:t>Lakshya Dadhich</a:t>
            </a:r>
          </a:p>
          <a:p>
            <a:pPr algn="ctr">
              <a:defRPr sz="1700">
                <a:solidFill>
                  <a:srgbClr val="AAB5C4"/>
                </a:solidFill>
                <a:latin typeface="Aptos"/>
              </a:defRPr>
            </a:pPr>
            <a:r>
              <a:t>Bhavya Patel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710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Bhavya Patel</dc:creator>
  <cp:keywords/>
  <dc:description>generated using python-pptx</dc:description>
  <cp:lastModifiedBy>Bhavya Patel</cp:lastModifiedBy>
  <cp:revision>3</cp:revision>
  <dcterms:created xsi:type="dcterms:W3CDTF">2013-01-27T09:14:16Z</dcterms:created>
  <dcterms:modified xsi:type="dcterms:W3CDTF">2026-07-08T05:40:00Z</dcterms:modified>
  <cp:category/>
</cp:coreProperties>
</file>